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  <p:sldId id="2576" r:id="rId17"/>
    <p:sldId id="2577" r:id="rId18"/>
    <p:sldId id="2578" r:id="rId19"/>
    <p:sldId id="2579" r:id="rId20"/>
    <p:sldId id="2580" r:id="rId21"/>
    <p:sldId id="25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ectricity Bill &amp; Energy Consumption Analysis Using Excel" id="{AD143EBC-C0AC-445C-8A39-1190E036698C}">
          <p14:sldIdLst>
            <p14:sldId id="2561"/>
          </p14:sldIdLst>
        </p14:section>
        <p14:section name="Electricity Bill &amp; Energy Consumption Analysis" id="{1BFBB415-FE9D-47F5-A9EA-5A1CCF997518}">
          <p14:sldIdLst>
            <p14:sldId id="2562"/>
            <p14:sldId id="2563"/>
          </p14:sldIdLst>
        </p14:section>
        <p14:section name="Project Overview" id="{D873AF28-A3CC-4FA3-9F65-F74B3DEF0A61}">
          <p14:sldIdLst>
            <p14:sldId id="2564"/>
            <p14:sldId id="2565"/>
          </p14:sldIdLst>
        </p14:section>
        <p14:section name="Dataset Description" id="{0D9ABA03-C52C-44AE-91CD-17138AE77C53}">
          <p14:sldIdLst>
            <p14:sldId id="2566"/>
            <p14:sldId id="2567"/>
          </p14:sldIdLst>
        </p14:section>
        <p14:section name="Data Cleaning and Preparation" id="{54714D45-B37D-456D-8FE7-C6A98584D516}">
          <p14:sldIdLst>
            <p14:sldId id="2568"/>
            <p14:sldId id="2569"/>
          </p14:sldIdLst>
        </p14:section>
        <p14:section name="Excel Tools and Techniques" id="{C1BC3FFF-A189-4304-8D22-D739A02AAB1B}">
          <p14:sldIdLst>
            <p14:sldId id="2570"/>
            <p14:sldId id="2571"/>
          </p14:sldIdLst>
        </p14:section>
        <p14:section name="Dashboard Design" id="{7BBF255A-2070-4247-B379-B66CB3AD6974}">
          <p14:sldIdLst>
            <p14:sldId id="2572"/>
            <p14:sldId id="2573"/>
          </p14:sldIdLst>
        </p14:section>
        <p14:section name="KPI Analysis" id="{AA137FFB-C9D1-463E-BC61-D30A54CAD77A}">
          <p14:sldIdLst>
            <p14:sldId id="2574"/>
            <p14:sldId id="2575"/>
          </p14:sldIdLst>
        </p14:section>
        <p14:section name="Insights and Findings" id="{AB43A855-332C-4ABA-B294-B3C827F6B3A2}">
          <p14:sldIdLst>
            <p14:sldId id="2576"/>
            <p14:sldId id="2577"/>
          </p14:sldIdLst>
        </p14:section>
        <p14:section name="Business Impact and Recommendations" id="{0853FB29-A0D5-443F-8D60-3B6A5A8970FE}">
          <p14:sldIdLst>
            <p14:sldId id="2578"/>
            <p14:sldId id="2579"/>
          </p14:sldIdLst>
        </p14:section>
        <p14:section name="Learning Outcomes and Conclusion" id="{3DB234CD-4547-444B-9C0B-3D7FA9E8ACA3}">
          <p14:sldIdLst>
            <p14:sldId id="2580"/>
            <p14:sldId id="25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967" autoAdjust="0"/>
  </p:normalViewPr>
  <p:slideViewPr>
    <p:cSldViewPr snapToGrid="0">
      <p:cViewPr varScale="1">
        <p:scale>
          <a:sx n="53" d="100"/>
          <a:sy n="53" d="100"/>
        </p:scale>
        <p:origin x="18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0113C-FE11-459E-A9CF-A90954941B5D}" type="datetimeFigureOut"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3EDA6-A5EF-4BAE-8776-A439D9A62B2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morning/afternoon everyone.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Rudrashis Chowdhury,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present our Excel project titled 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“Electricity Bill &amp; Energy Consumption Analysis.”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was developed using Microsoft Excel to analyze electricity consumption data, identify energy usage patterns, and create an interactive dashboard for reporting and decision-making.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Throughout this presentation, I will explain the project's objectives, dataset, Excel techniques, dashboard design, key insights, and learning outcomes. The project demonstrates how Excel can be used as a powerful analytical and business intelligence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3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focuses on analysing electricity bills and energy consumption records using Excel-based analytical techniques.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primary goal was to convert raw electricity data into meaningful business insights through data cleaning, transformation, visualization, and dashboard development.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simulates a real-world business scenario where organizations need to monitor energy costs, identify high-consumption areas, and take corrective action to improve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analyses electricity consumption and billing data to understand energy usage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analysis covers: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Monthly consumption trends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City-wise comparisons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Appliance-level consumption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Billing impact on overall costs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demonstrates the complete analytics lifecycle, beginning with raw data and ending with executive-level dashboards.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highlights Excel's ability to support data-driven decision-making through interactive reporting and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48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section, I will discuss the project's objectives and scope.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objective was to develop an analytical dashboard capable of monitoring electricity consumption and billing data.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focuses on: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preparation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Trend analysis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 calculation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Interactive dashboard creation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Ultimately, the goal is to help users understand consumption behaviour and identify opportunities for reducing electricity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12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were four major objectives of this project.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cleaned and organized the raw dataset to improve data quality.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we analysed usage patterns across months, cities, and appliances.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we created an interactive dashboard using Pivot Tables, Charts, and Slicers.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identified cost drivers and consumption trends that influence electricity bills.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scope covers the entire Excel analytics process, from data preparation to business reporting and visualization.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98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consists of electricity consumption and billing information collected across multiple observations.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data fields include: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Monthly energy usage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Electricity bills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Appliance consumption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Operating hours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City information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dataset contains several dimensions of data, it supports detailed analysis across time, location, and appliance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6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performing analysis, it was important to understand the dataset structure.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 contained information that could be analysed both horizontally and vertically.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many real-world datasets, it included: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Formatting inconsistencies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Duplicate records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the dataset helped us build reliable KPIs and ensure meaningful analytical results throughout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36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cleaning was one of the most important phases of the project.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performed several activities including: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 duplicate records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Correcting formatting issues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Handling missing values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Verifying data accuracy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clean dataset is essential because inaccurate data leads to unreliable analysis and poor business decisions. This step prepared the foundation for all subsequent calculations and dashboard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86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the data ready for analysis, we standardized dates, numbers, and categorical fields.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 functions such as: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IFERROR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Functions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 used to address data quality issues.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validation and transformation, the dataset became suitable for Pivot Tables, KPI calculations, charts, and dashboard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48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utilizes several advanced Excel features.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tools included: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 Tables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 Charts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Slicers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Conditional Formatting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Excel Functions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features helped summarize large volumes of data and transform them into meaningful visual insights for end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22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 Tables were used to aggregate and summarize data efficiently.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 Charts converted numerical summaries into visual representations for easier interpretation.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Slicers provided dashboard interactivity, allowing users to filter results dynamically.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Conditional formatting highlighted important patterns, while functions such as SUMIFS, COUNTIFS, and AVERAGEIFS supported KPI calculations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7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dashboard is the central deliverable of this project.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consolidates all important metrics into a single interface and gives users a high-level overview of electricity consumption and billing performance.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emphasizes simplicity, usability, and quick decision-making through visual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42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dashboard contains KPI cards showing: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energy consumption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usage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Billing information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includes charts showing: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Monthly trends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City-wise comparisons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Appliance-wise consumption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Interactive slicers allow users to explore the data from different perspectives without modifying the underlying dataset.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6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 are critical because they summarize business performance in a concise and measurable format.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project, KPIs were designed to monitor overall energy usage, average consumption, and electricity costs.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indicators provide a quick snapshot of performance and help identify unusual consumption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34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tracks three primary KPIs: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Energy Consumption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Monthly Consumption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Electricity Bill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metrics can be analysed across months and cities to identify patterns and trends.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KPI dashboards reduces the need to review detailed datasets and enables faster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7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analysing the data, several valuable insights were discovered.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analysis identified: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 consumption periods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Consumption differences across cities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Appliances responsible for the highest electricity usage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findings demonstrate the practical value of data analysis for energy management and cost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41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Monthly consumption analysis revealed seasonal variations and high-demand periods.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City-wise analysis highlighted locations with higher electricity usage patterns.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Appliance-level analysis identified devices that contributed significantly to total consumption and electricity costs.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insights can help users develop strategies for reducing energy expenses and improving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97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findings can support both operational and financial decision-making.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using analytical insights, organizations can improve energy efficiency and better manage electricity expenses.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demonstrates how Excel analytics can create measurable business value beyond basic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91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the analysis, several recommendations were developed.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include: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high-consumption appliances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Shifting usage away from peak periods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Implementing energy-saving practices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improvements include integrating: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Query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Pivot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VBA Automation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enhancements would improve scalability and automation of the analytical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85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provided significant practical experience in Excel-based analytics.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gained hands-on exposure to: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Cleaning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Analysis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 Design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 Development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Visualization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demonstrates how Excel can be used as a complete business analytics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84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this project successfully transformed raw electricity consumption data into actionable business insights.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strengthened our technical Excel skills while also improving analytical thinking and problem-solving abilities.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importantly, it showed how Excel dashboards, KPIs, Pivot Tables, and visualizations can support data-driven decision-making in energy </a:t>
            </a: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management.</a:t>
            </a:r>
          </a:p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time. I would be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182CF-B4D0-441D-A33F-8DBEA2C1FCE9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5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1718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231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168" y="4751933"/>
            <a:ext cx="4206240" cy="11845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25201"/>
            <a:ext cx="484632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6396209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21942F-12C1-43E6-1BC0-1C947214A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6F46891-762A-5114-969C-3BBE7880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66" y="938046"/>
            <a:ext cx="4800600" cy="36667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0348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1085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84880"/>
            <a:ext cx="5086118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000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91582" y="4172243"/>
            <a:ext cx="5303520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55345" y="418442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33A316-42C9-8448-EB08-1368837FA9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8013291-94C9-601A-D9FA-D16366A3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991" y="5068752"/>
            <a:ext cx="10643616" cy="18105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4058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0" y="5099828"/>
            <a:ext cx="1146048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B41266-EC7F-757C-0428-09A71DE4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35" y="6124295"/>
            <a:ext cx="11457432" cy="7863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4351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52658"/>
            <a:ext cx="5906125" cy="207901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7511287-3255-FB23-428C-911FAD46A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49A66-B9FA-B1A3-04A3-A26F172F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475A5-95F7-BE62-7ACD-C8EB9F44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2FDC2-EAB0-357A-89E6-3B3455DD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2663F3-CF3C-4398-3DCD-2DA0F141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53544"/>
            <a:ext cx="8165592" cy="3694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2721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522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13929"/>
            <a:ext cx="7588155" cy="141409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09A28F-4055-D8A2-A5F1-0A8A00EEF037}"/>
              </a:ext>
            </a:extLst>
          </p:cNvPr>
          <p:cNvSpPr/>
          <p:nvPr userDrawn="1"/>
        </p:nvSpPr>
        <p:spPr>
          <a:xfrm>
            <a:off x="8519421" y="3176277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F113E0-E5A8-C67B-4A72-3FFE6FC4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6344"/>
            <a:ext cx="12088368" cy="2414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6474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934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CCA65C-AFE0-A9A2-0C8B-31E67D2A85BB}"/>
              </a:ext>
            </a:extLst>
          </p:cNvPr>
          <p:cNvSpPr/>
          <p:nvPr userDrawn="1"/>
        </p:nvSpPr>
        <p:spPr>
          <a:xfrm>
            <a:off x="8524369" y="318128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16D578-6621-229F-0666-B010E16C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211312" cy="4617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5854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1224955" y="5974978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44BC08E-4798-95B0-A060-4AF1C14C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3214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 userDrawn="1"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83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5898630" cy="1628639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8818"/>
            <a:ext cx="527597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21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577705"/>
            <a:ext cx="5895668" cy="426608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29A90D-5A73-BC75-5D99-5E652EA0F3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64" y="5857382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36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946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7534384" cy="3513095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116" y="4017192"/>
            <a:ext cx="4063655" cy="2814212"/>
          </a:xfrm>
        </p:spPr>
        <p:txBody>
          <a:bodyPr anchor="b" anchorCtr="0">
            <a:normAutofit/>
          </a:bodyPr>
          <a:lstStyle>
            <a:lvl1pPr marL="342900" indent="-342900" algn="r">
              <a:buFont typeface="+mj-lt"/>
              <a:buAutoNum type="arabicPeriod"/>
              <a:defRPr sz="1400"/>
            </a:lvl1pPr>
            <a:lvl2pPr marL="571500" indent="-342900" algn="r">
              <a:buFont typeface="+mj-lt"/>
              <a:buAutoNum type="arabicPeriod"/>
              <a:defRPr sz="1400"/>
            </a:lvl2pPr>
            <a:lvl3pPr marL="800100" indent="-342900" algn="r">
              <a:buFont typeface="+mj-lt"/>
              <a:buAutoNum type="arabicPeriod"/>
              <a:defRPr sz="1400"/>
            </a:lvl3pPr>
            <a:lvl4pPr marL="1028700" indent="-342900" algn="r">
              <a:buFont typeface="+mj-lt"/>
              <a:buAutoNum type="arabicPeriod"/>
              <a:defRPr sz="1400"/>
            </a:lvl4pPr>
            <a:lvl5pPr marL="1257300" indent="-342900" algn="r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7C9240-617B-1770-A044-328C31CB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4945" y="118818"/>
            <a:ext cx="377991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72400" y="989351"/>
            <a:ext cx="4284026" cy="578958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56323E-CFBE-3917-9F8D-C2431E41FB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06" y="6047419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89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4390515" cy="241814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4373735"/>
            <a:ext cx="4389120" cy="2459736"/>
          </a:xfrm>
        </p:spPr>
        <p:txBody>
          <a:bodyPr anchor="b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90488" y="110364"/>
            <a:ext cx="535823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190488" y="6468346"/>
            <a:ext cx="2899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5DE040-A555-DAC9-D08D-73A80FFBC53C}"/>
              </a:ext>
            </a:extLst>
          </p:cNvPr>
          <p:cNvSpPr/>
          <p:nvPr userDrawn="1"/>
        </p:nvSpPr>
        <p:spPr>
          <a:xfrm>
            <a:off x="8540137" y="318973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05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F0A24D4-6DA5-79FF-03B8-B42156C29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496777-32C7-B10A-B939-8EEC9C87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C2CAA-FD7B-3168-42A9-81A6AA4B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40096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081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6082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A66657-CD31-0011-4B4B-A81B7CAC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E5E0-A3F6-BA78-E3AC-4EF58829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477BD1-B2A6-0DA8-FFFF-D07E005B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5D392D-C542-426F-517D-B10E0475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66480" cy="5715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4229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3537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40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AA64C6-E678-9909-94ED-FA63F0C2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78" y="623087"/>
            <a:ext cx="579404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FEA89376-E8CF-4210-753A-0F9465115C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566" y="2459736"/>
            <a:ext cx="5745663" cy="3778977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25631" y="0"/>
            <a:ext cx="566637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D1272CAE-C152-7545-C45C-505CD07BDC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566" y="644142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46CB14D0-DC1A-8BE6-97EC-FF17990690C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365787" y="6455623"/>
            <a:ext cx="2295997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F865E30D-74D2-EFE8-B8DB-03B9E69D0A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880116" y="6456170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0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2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02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B885E47-4079-9C50-E087-611C3086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084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6CA7CCCF-A74C-FE4F-4164-4DF092E4D9B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1" y="0"/>
            <a:ext cx="5895833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2733663-4506-C48D-18F7-FAC92D16B24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96084" y="2498368"/>
            <a:ext cx="5364544" cy="3582748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0C50E97D-3024-3B81-A109-5EAF6E7AF5B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96084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7AB67CF-072E-0A2D-B536-2FEA64D531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1422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478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58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8BB86E1-24F1-4785-0234-656368BC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7186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AC7BAE6-D45A-F41F-AEA6-769EB11D4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7847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9CA9496-CED8-8D3F-ABD7-73692B2D6C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2161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9AA3307D-5C4C-C4FF-D129-681F24B8E7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093839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D6EB247-ADC7-7FC5-3295-B575F7E55D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2181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4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666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567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7332-4C5A-BFFF-1742-2916FBD8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3D76D0DE-4A60-5EEB-7C52-24A5022D25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" y="3209544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2A6199B6-23BC-9435-621B-74DD4470E14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54137" y="0"/>
            <a:ext cx="7237863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255C95A-1493-49D0-7E13-22BA91D6C3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0352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E1D75304-C483-6598-27D2-779691F756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008087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527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49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C4192E-0615-6D24-7F21-2ED903A0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21792"/>
            <a:ext cx="4428700" cy="260192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F39CB-9CE6-B4F1-AF33-1A09A12BE9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0352" y="110364"/>
            <a:ext cx="42976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9206B-94E8-C3F0-6151-8464A5C587D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64400" y="104576"/>
            <a:ext cx="48368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CE137C-A6F0-119E-F45A-788BDB12E8F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17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330B07B-AD04-71E7-8385-E5A3DE536F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6944" y="603504"/>
            <a:ext cx="6298442" cy="26019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2BD75130-65F5-8CA7-F1DB-569BD060C5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2900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0095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3" y="621792"/>
            <a:ext cx="6680347" cy="189280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1" y="3005447"/>
            <a:ext cx="6680345" cy="3230761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6D26A7AC-B400-7088-EC1C-217678DB14A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4382" y="136478"/>
            <a:ext cx="4612943" cy="609973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34B3914D-A10D-2D8F-7CC2-7E07FAAE88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0352" y="6462179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A78AAE3-4F7C-3B5B-F640-B147F33EB691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328846" y="6492875"/>
            <a:ext cx="3270368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728CC4AA-DAFA-3E74-3F32-B26BE709A8D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762793" y="64621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377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CA9E-2928-08E5-AA9D-7B45CB4A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21792"/>
            <a:ext cx="5358019" cy="1840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744A6F4-47F7-7529-5231-5CE0A904C5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" y="2843784"/>
            <a:ext cx="5358019" cy="3289253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D8383-42AF-7DFA-C40A-B388514EFD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92658" y="117098"/>
            <a:ext cx="33232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1CA84-487B-3628-F588-A19D042E21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027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8FD38FA1-53E1-B8E1-3AE1-25A40C63D4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3631" y="2843784"/>
            <a:ext cx="5243935" cy="3289253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3245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89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21792"/>
            <a:ext cx="3528795" cy="1875965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9183" y="2890640"/>
            <a:ext cx="3424181" cy="334245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51" y="603504"/>
            <a:ext cx="7215984" cy="5558959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B28364-BB1F-C92D-6EA6-E9AFEACC2D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4B54CF-3562-5862-E6DB-CEF1F22146E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80F23-567A-D56A-4657-9FE5DB9F1C6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481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644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3" y="2096349"/>
            <a:ext cx="5332001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096349"/>
            <a:ext cx="5332001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0E56234-B5C3-D303-58A8-CF23222E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514" y="6446399"/>
            <a:ext cx="5332001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C0A47EA-16E7-11EE-8018-164220C7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2520" y="6446399"/>
            <a:ext cx="2533470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7862A6-EA05-3FD1-682D-3C9735BB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0279" y="644639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8D80FA0-F955-40A3-A72F-8CE9E2D293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184244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613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757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2844166"/>
            <a:ext cx="6400800" cy="3999042"/>
          </a:xfrm>
        </p:spPr>
        <p:txBody>
          <a:bodyPr anchor="b" anchorCtr="0"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759184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41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9E2A0A4-E744-4E9C-CEAD-DBA5E98D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497205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44A2045-E098-ECF5-2867-D41D939B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8952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7F69DDF-E931-1763-53C0-B18D6D4E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3402064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66157" y="832104"/>
            <a:ext cx="6707160" cy="591704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9776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310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B97A67-2BC4-FA44-F047-6D2FBC5C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61712"/>
            <a:ext cx="5902657" cy="996287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E3A4F82-7267-3CC9-7E77-5D7ABE6E5C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177888A-355A-DE7F-B87A-D018FC9564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2B4EDBB-F789-35E1-3512-3A3E647C2B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84CE38-13A5-0A89-BFB8-F0599148FA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D02E6BD-A41A-324C-DB4D-3F42AA60F5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71651" y="975814"/>
            <a:ext cx="6045958" cy="451058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34526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0569A7B-C9D6-067D-A126-4AE69E38D01E}"/>
              </a:ext>
            </a:extLst>
          </p:cNvPr>
          <p:cNvSpPr/>
          <p:nvPr userDrawn="1"/>
        </p:nvSpPr>
        <p:spPr>
          <a:xfrm>
            <a:off x="8519421" y="3176277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326B58-E941-959F-2B97-B27C83B2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DE6F409A-A8C2-D0FA-3860-DBAA1D39483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D2971BB-BFC1-CA41-54C4-399DFC34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A199958-2F45-8AE2-B3FA-8DEE7EA3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88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 flipV="1">
            <a:off x="11365053" y="9944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FAE7531-CF3E-6AB6-0F17-5A32F275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306" y="1406493"/>
            <a:ext cx="5355995" cy="4175441"/>
          </a:xfrm>
        </p:spPr>
        <p:txBody>
          <a:bodyPr anchor="b">
            <a:normAutofit/>
          </a:bodyPr>
          <a:lstStyle>
            <a:lvl1pPr>
              <a:defRPr sz="20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29716D90-0E1B-9CA0-CA68-BAF42DCA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99445"/>
            <a:ext cx="33451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6AB58482-E637-A071-B668-27EBFD58F6C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8217" y="1378424"/>
            <a:ext cx="5424440" cy="460611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343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16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2504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50" y="-1052833"/>
            <a:ext cx="10652760" cy="9700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8B79B09-36D6-C7B6-557C-22D3F2F4BF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81888"/>
            <a:ext cx="8206127" cy="466753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4D8BBE8-9A85-674B-8806-BC1E7F97D9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09728"/>
            <a:ext cx="429207" cy="365125"/>
          </a:xfrm>
        </p:spPr>
        <p:txBody>
          <a:bodyPr anchor="t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124AE3-E085-484F-727A-B52B7EC3107F}"/>
              </a:ext>
            </a:extLst>
          </p:cNvPr>
          <p:cNvSpPr/>
          <p:nvPr userDrawn="1"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DC5C58-149D-7F0E-C0DA-F056A621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1675"/>
            <a:ext cx="5898630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1B7751E-865D-DA78-6F88-46D5A33A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6411675"/>
            <a:ext cx="5332001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63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50" y="-1215532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77EE86-26B5-588D-FBC7-2D55635EA6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7D7DCD-152C-2BBF-7A32-DD62FF0F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00461C-98A4-27A2-7628-C754571F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961EF53-B681-0E2D-E395-859E6E23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C29B86A-C2A7-9757-32B2-0221942D9F5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2308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3070903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29F5384-F69B-7999-8993-CF493BCC0AF5}"/>
              </a:ext>
            </a:extLst>
          </p:cNvPr>
          <p:cNvSpPr/>
          <p:nvPr userDrawn="1"/>
        </p:nvSpPr>
        <p:spPr>
          <a:xfrm>
            <a:off x="8519421" y="3176277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8C46DA-CDE0-B9A4-3D5C-845982E72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940870"/>
            <a:ext cx="5902657" cy="91030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1CE14D3D-2707-27F9-B7FC-796ADA557C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95533"/>
            <a:ext cx="5902657" cy="5001905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C894B53-7D10-FCBC-A9AE-9307AA00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00701"/>
            <a:ext cx="534066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901AD6A-AFD3-46A2-2880-946FA9EB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6362968"/>
            <a:ext cx="2511743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E4BB4CA-93D0-1F7C-0E9E-B355F009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14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42940" y="95534"/>
            <a:ext cx="731520" cy="7315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0ACCAE6-C0CE-BC40-76B0-4E5CF8030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95C3E0C-58EF-D2CD-F0DE-C6EC49B86CC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655B7A7-70D5-BACE-2BCD-3388773C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6397341"/>
            <a:ext cx="5332001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55F0BA-717A-1EE4-7566-EDBF2512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7341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11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400504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1440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6CA867-0594-FF63-2A8A-31E617CF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351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BFC28-1FE6-202E-4C75-F59AA5769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52F0F-1439-960F-9C3A-9343AACF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72698-4711-8849-0363-3DFE7813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174977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996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3004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5840"/>
            <a:ext cx="4387515" cy="22667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F49C86-6C0C-1FF8-95FA-97DFDF9D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67C0644-E9CA-553A-9682-88BC00D2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71DEEC6-473A-E958-E22B-4390511A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" y="3951334"/>
            <a:ext cx="4387515" cy="280961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4821" y="1005840"/>
            <a:ext cx="7217472" cy="575510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77499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8588"/>
            <a:ext cx="5895375" cy="5109411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94648"/>
            <a:ext cx="4572000" cy="127695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3855" y="9464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16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64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 userDrawn="1"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23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250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BA0AF42-048E-D12A-21B3-07D371FCE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52658"/>
            <a:ext cx="5906125" cy="2079019"/>
          </a:xfrm>
        </p:spPr>
        <p:txBody>
          <a:bodyPr anchor="b">
            <a:normAutofit/>
          </a:bodyPr>
          <a:lstStyle/>
          <a:p>
            <a:r>
              <a:rPr lang="en-US"/>
              <a:t>Analyzing energy usage and costs with Excel tools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FE4AB7-ACEF-A61D-F2C0-995C113C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53544"/>
            <a:ext cx="8165592" cy="3694176"/>
          </a:xfrm>
        </p:spPr>
        <p:txBody>
          <a:bodyPr anchor="t">
            <a:normAutofit/>
          </a:bodyPr>
          <a:lstStyle/>
          <a:p>
            <a:r>
              <a:rPr lang="en-US"/>
              <a:t>Electricity Bill &amp; Energy Consumption Analysis Using Excel</a:t>
            </a:r>
          </a:p>
        </p:txBody>
      </p:sp>
    </p:spTree>
    <p:extLst>
      <p:ext uri="{BB962C8B-B14F-4D97-AF65-F5344CB8AC3E}">
        <p14:creationId xmlns:p14="http://schemas.microsoft.com/office/powerpoint/2010/main" val="385581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FB861A-03F1-E4C0-2C11-953BCF46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>
            <a:normAutofit/>
          </a:bodyPr>
          <a:lstStyle/>
          <a:p>
            <a:r>
              <a:rPr lang="en-US"/>
              <a:t>Electricity Bill &amp; Energy Consumption Analysis</a:t>
            </a:r>
          </a:p>
        </p:txBody>
      </p:sp>
    </p:spTree>
    <p:extLst>
      <p:ext uri="{BB962C8B-B14F-4D97-AF65-F5344CB8AC3E}">
        <p14:creationId xmlns:p14="http://schemas.microsoft.com/office/powerpoint/2010/main" val="37127352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3C98-A249-58F2-F645-1099491C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300" b="0" i="0" kern="1200" spc="-200" baseline="0">
                <a:latin typeface="+mj-lt"/>
                <a:ea typeface="+mj-ea"/>
                <a:cs typeface="+mj-cs"/>
              </a:rPr>
              <a:t>Project Title and Introduction</a:t>
            </a:r>
          </a:p>
        </p:txBody>
      </p:sp>
      <p:pic>
        <p:nvPicPr>
          <p:cNvPr id="4" name="Content Placeholder 3" descr="Credit score report">
            <a:extLst>
              <a:ext uri="{FF2B5EF4-FFF2-40B4-BE49-F238E27FC236}">
                <a16:creationId xmlns:a16="http://schemas.microsoft.com/office/drawing/2014/main" id="{53D3745D-7C1A-4F9E-8E45-AFFAC8D26B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88" r="26445"/>
          <a:stretch>
            <a:fillRect/>
          </a:stretch>
        </p:blipFill>
        <p:spPr>
          <a:xfrm>
            <a:off x="20" y="1"/>
            <a:ext cx="4023340" cy="68580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5759A2-9B3D-44AD-AC91-9978D6F7CB34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09088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Project Overview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The project analyzes electricity consumption and billing data using Microsoft Excel to generate practical insights.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Data Dimensions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Analysis covers monthly trends, city-wise comparisons, appliance-level usage, and billing impact.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Analytical Approach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The project emphasizes data cleaning, transformation, and interactive dashboard development for insights.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Learning Outcomes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Demonstrates Excel's capability as an analytical platform supporting data-driven decision-making in energy management.</a:t>
            </a:r>
          </a:p>
        </p:txBody>
      </p:sp>
    </p:spTree>
    <p:extLst>
      <p:ext uri="{BB962C8B-B14F-4D97-AF65-F5344CB8AC3E}">
        <p14:creationId xmlns:p14="http://schemas.microsoft.com/office/powerpoint/2010/main" val="26480581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A81F0-CA9A-F08C-E0BB-B2CBABAD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>
            <a:normAutofit/>
          </a:bodyPr>
          <a:lstStyle/>
          <a:p>
            <a:r>
              <a:rPr lang="en-US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907590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A07E-1C19-DD06-B244-0A11DA5C5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b="0" i="0" kern="1200" spc="-200" baseline="0">
                <a:latin typeface="+mj-lt"/>
                <a:ea typeface="+mj-ea"/>
                <a:cs typeface="+mj-cs"/>
              </a:rPr>
              <a:t>Objectives and Scope of the Project</a:t>
            </a:r>
          </a:p>
        </p:txBody>
      </p:sp>
      <p:pic>
        <p:nvPicPr>
          <p:cNvPr id="4" name="Content Placeholder 3" descr="Stock market finance account report chart value">
            <a:extLst>
              <a:ext uri="{FF2B5EF4-FFF2-40B4-BE49-F238E27FC236}">
                <a16:creationId xmlns:a16="http://schemas.microsoft.com/office/drawing/2014/main" id="{317C519B-6D48-49E7-AF43-30CB2B763B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54483" r="8850"/>
          <a:stretch>
            <a:fillRect/>
          </a:stretch>
        </p:blipFill>
        <p:spPr>
          <a:xfrm>
            <a:off x="20" y="1"/>
            <a:ext cx="4023340" cy="68580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12824B-3D13-4C8D-9DB8-E0EBEFCA520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09088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Data Cleaning and Preparation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Ensuring data accuracy and consistency by cleaning and organizing raw electricity consumption datasets before analysis.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Consumption Analysis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Analyzing energy usage patterns over time, by city, and by appliance type to identify trends and high-usage areas.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Interactive Dashboard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Building a dashboard with filters and slicers for dynamic exploration of key electricity consumption metrics.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Cost Drivers and Trends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Identifying monthly consumption trends, high-consumption periods, and factors affecting electricity bills for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8784271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A9252B-727B-B6E2-1828-DF1C210B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>
            <a:normAutofit/>
          </a:bodyPr>
          <a:lstStyle/>
          <a:p>
            <a:r>
              <a:rPr lang="en-US"/>
              <a:t>Dataset Description</a:t>
            </a:r>
          </a:p>
        </p:txBody>
      </p:sp>
    </p:spTree>
    <p:extLst>
      <p:ext uri="{BB962C8B-B14F-4D97-AF65-F5344CB8AC3E}">
        <p14:creationId xmlns:p14="http://schemas.microsoft.com/office/powerpoint/2010/main" val="16608234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3F64-A097-FF71-CB56-A935259FF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300" b="0" i="0" kern="1200" spc="-200" baseline="0">
                <a:latin typeface="+mj-lt"/>
                <a:ea typeface="+mj-ea"/>
                <a:cs typeface="+mj-cs"/>
              </a:rPr>
              <a:t>Understanding the Data Used</a:t>
            </a:r>
          </a:p>
        </p:txBody>
      </p:sp>
      <p:pic>
        <p:nvPicPr>
          <p:cNvPr id="4" name="Content Placeholder 3" descr="Abstract 3D illustration.">
            <a:extLst>
              <a:ext uri="{FF2B5EF4-FFF2-40B4-BE49-F238E27FC236}">
                <a16:creationId xmlns:a16="http://schemas.microsoft.com/office/drawing/2014/main" id="{D4C75FC0-EF54-4782-ABA9-0549E21E4A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0306" r="25694"/>
          <a:stretch>
            <a:fillRect/>
          </a:stretch>
        </p:blipFill>
        <p:spPr>
          <a:xfrm>
            <a:off x="20" y="1"/>
            <a:ext cx="4023340" cy="68580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925890-FCCF-4393-9D35-A92BC904759F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09088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Dataset Composition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The dataset includes monthly energy use, billing, appliance consumption, operating hours, and city-wise data.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Data Structure and Analysis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The dataset supports vertical and horizontal analysis across time, location, and appliances for detailed insights.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Data Quality Challenges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Raw data contains missing values, formatting issues, and redundancies that must be addressed for accurate analysis.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Foundation for KPIs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Understanding the data ensures accurate KPI development and meaningful consumption behavior insights within Excel.</a:t>
            </a:r>
          </a:p>
        </p:txBody>
      </p:sp>
    </p:spTree>
    <p:extLst>
      <p:ext uri="{BB962C8B-B14F-4D97-AF65-F5344CB8AC3E}">
        <p14:creationId xmlns:p14="http://schemas.microsoft.com/office/powerpoint/2010/main" val="26700410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2DFE3D-2729-EE9F-4AE7-5ACCF475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>
            <a:normAutofit/>
          </a:bodyPr>
          <a:lstStyle/>
          <a:p>
            <a:r>
              <a:rPr lang="en-US"/>
              <a:t>Data Cleaning and Preparation</a:t>
            </a:r>
          </a:p>
        </p:txBody>
      </p:sp>
    </p:spTree>
    <p:extLst>
      <p:ext uri="{BB962C8B-B14F-4D97-AF65-F5344CB8AC3E}">
        <p14:creationId xmlns:p14="http://schemas.microsoft.com/office/powerpoint/2010/main" val="36179979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5F22-FEB0-826D-00BD-26ED09F1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b="0" i="0" kern="1200" spc="-200" baseline="0">
                <a:latin typeface="+mj-lt"/>
                <a:ea typeface="+mj-ea"/>
                <a:cs typeface="+mj-cs"/>
              </a:rPr>
              <a:t>Preparing Analysis-Ready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60AF3-8687-4983-A5EA-08B4D26B22A4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9602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Removing Duplicate Records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Eliminating duplicate entries ensures consumption values are accurate and not overstated in analysis.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Standardizing Data Formats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Consistent date, number, and categorical formats enable reliable analysis with Pivot Tables and formulas.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Handling Missing Values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Using Excel functions like IF and IFERROR stabilizes calculations by addressing missing data effectively.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Ensuring Data Accuracy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Verification and alignment of billing and consumption data maintain data integrity for analysis.</a:t>
            </a:r>
          </a:p>
        </p:txBody>
      </p:sp>
      <p:pic>
        <p:nvPicPr>
          <p:cNvPr id="4" name="Content Placeholder 3" descr="Credit score report">
            <a:extLst>
              <a:ext uri="{FF2B5EF4-FFF2-40B4-BE49-F238E27FC236}">
                <a16:creationId xmlns:a16="http://schemas.microsoft.com/office/drawing/2014/main" id="{695C9636-31C0-44E6-94D9-6FC266A5AC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655" r="44345"/>
          <a:stretch>
            <a:fillRect/>
          </a:stretch>
        </p:blipFill>
        <p:spPr>
          <a:xfrm>
            <a:off x="8168640" y="1"/>
            <a:ext cx="4023360" cy="6858000"/>
          </a:xfrm>
        </p:spPr>
      </p:pic>
    </p:spTree>
    <p:extLst>
      <p:ext uri="{BB962C8B-B14F-4D97-AF65-F5344CB8AC3E}">
        <p14:creationId xmlns:p14="http://schemas.microsoft.com/office/powerpoint/2010/main" val="22596606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A028FF-10BC-DB1F-FB01-14F9A25B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>
            <a:normAutofit/>
          </a:bodyPr>
          <a:lstStyle/>
          <a:p>
            <a:r>
              <a:rPr lang="en-US"/>
              <a:t>Excel Tools and Techniques</a:t>
            </a:r>
          </a:p>
        </p:txBody>
      </p:sp>
    </p:spTree>
    <p:extLst>
      <p:ext uri="{BB962C8B-B14F-4D97-AF65-F5344CB8AC3E}">
        <p14:creationId xmlns:p14="http://schemas.microsoft.com/office/powerpoint/2010/main" val="4068900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92E0-B1CB-DCA2-3193-214F1ED6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0" i="0" kern="1200" spc="-200" baseline="0">
                <a:latin typeface="+mj-lt"/>
                <a:ea typeface="+mj-ea"/>
                <a:cs typeface="+mj-cs"/>
              </a:rPr>
              <a:t>Key Excel Features Used</a:t>
            </a:r>
          </a:p>
        </p:txBody>
      </p:sp>
      <p:pic>
        <p:nvPicPr>
          <p:cNvPr id="4" name="Content Placeholder 3" descr="pencil on a golf scorecard.">
            <a:extLst>
              <a:ext uri="{FF2B5EF4-FFF2-40B4-BE49-F238E27FC236}">
                <a16:creationId xmlns:a16="http://schemas.microsoft.com/office/drawing/2014/main" id="{F9DE4E53-B4F5-4954-AE5F-1CB3E8BD7E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563" r="33490"/>
          <a:stretch>
            <a:fillRect/>
          </a:stretch>
        </p:blipFill>
        <p:spPr>
          <a:xfrm>
            <a:off x="20" y="1"/>
            <a:ext cx="4023340" cy="68580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BCFEE9-E5F4-4144-AC00-E85E7D1489D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09088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Pivot Tables for Data Summarization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Pivot Tables summarize large datasets to generate insights across multiple dimensions like time, city, and appliances.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Pivot Charts for Visualization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Pivot Charts visualize summarized data, making patterns and trends easier to interpret in reports.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Interactivity via Slicers and Filters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Slicers and filters allow dynamic data views without altering formulas, enhancing user interactivity.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Conditional Formatting and Functions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Conditional formatting highlights key values, while Excel functions calculate KPIs and handle data exceptions.</a:t>
            </a:r>
          </a:p>
        </p:txBody>
      </p:sp>
    </p:spTree>
    <p:extLst>
      <p:ext uri="{BB962C8B-B14F-4D97-AF65-F5344CB8AC3E}">
        <p14:creationId xmlns:p14="http://schemas.microsoft.com/office/powerpoint/2010/main" val="3109731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D9C921-FABE-99E9-FD37-BF822D4F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>
            <a:normAutofit/>
          </a:bodyPr>
          <a:lstStyle/>
          <a:p>
            <a:r>
              <a:rPr lang="en-US"/>
              <a:t>Dashboard Design</a:t>
            </a:r>
          </a:p>
        </p:txBody>
      </p:sp>
    </p:spTree>
    <p:extLst>
      <p:ext uri="{BB962C8B-B14F-4D97-AF65-F5344CB8AC3E}">
        <p14:creationId xmlns:p14="http://schemas.microsoft.com/office/powerpoint/2010/main" val="1092886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BB65-9EF4-0993-0DA3-0E48A663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300" b="0" i="0" kern="1200" spc="-200" baseline="0">
                <a:latin typeface="+mj-lt"/>
                <a:ea typeface="+mj-ea"/>
                <a:cs typeface="+mj-cs"/>
              </a:rPr>
              <a:t>Interactive Excel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CE5E5-38DB-4376-AA6E-0A058D3F11AE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9602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300" b="1"/>
              <a:t>Key Performance Indicators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/>
              <a:t>KPI cards display total electricity consumption, billing amounts, and average usage for quick insights.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300" b="1"/>
              <a:t>Consumption Trends Visualization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/>
              <a:t>Line and column charts illustrate monthly electricity consumption trends highlighting peak and low usage periods.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300" b="1"/>
              <a:t>City and Appliance Comparisons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/>
              <a:t>City-wise and appliance-wise charts help identify top energy consumers and major contributors.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300" b="1"/>
              <a:t>Interactive Data Exploration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/>
              <a:t>Slicers and filters enable dynamic exploration of data for detailed analysis and reporting.</a:t>
            </a:r>
          </a:p>
        </p:txBody>
      </p:sp>
      <p:pic>
        <p:nvPicPr>
          <p:cNvPr id="4" name="Content Placeholder 3" descr="Financial graphs on a dark display">
            <a:extLst>
              <a:ext uri="{FF2B5EF4-FFF2-40B4-BE49-F238E27FC236}">
                <a16:creationId xmlns:a16="http://schemas.microsoft.com/office/drawing/2014/main" id="{A47E6CE7-4A9F-4CBE-AB8E-69DCA929E8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9020" r="34314"/>
          <a:stretch>
            <a:fillRect/>
          </a:stretch>
        </p:blipFill>
        <p:spPr>
          <a:xfrm>
            <a:off x="8168640" y="1"/>
            <a:ext cx="4023360" cy="6858000"/>
          </a:xfrm>
        </p:spPr>
      </p:pic>
    </p:spTree>
    <p:extLst>
      <p:ext uri="{BB962C8B-B14F-4D97-AF65-F5344CB8AC3E}">
        <p14:creationId xmlns:p14="http://schemas.microsoft.com/office/powerpoint/2010/main" val="37478468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5D7CE3-D01F-046B-D2F3-C5532254E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>
            <a:normAutofit/>
          </a:bodyPr>
          <a:lstStyle/>
          <a:p>
            <a:r>
              <a:rPr lang="en-US"/>
              <a:t>KPI Analysis</a:t>
            </a:r>
          </a:p>
        </p:txBody>
      </p:sp>
    </p:spTree>
    <p:extLst>
      <p:ext uri="{BB962C8B-B14F-4D97-AF65-F5344CB8AC3E}">
        <p14:creationId xmlns:p14="http://schemas.microsoft.com/office/powerpoint/2010/main" val="17887809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D196-1E56-EEAD-067B-593CC565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b="0" i="0" kern="1200" spc="-200" baseline="0">
                <a:latin typeface="+mj-lt"/>
                <a:ea typeface="+mj-ea"/>
                <a:cs typeface="+mj-cs"/>
              </a:rPr>
              <a:t>Measuring Performance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97465-9CF8-4675-AA76-A36283C69636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9602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Key KPIs Tracked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Total energy consumption, average monthly usage, and total electricity bill are the main KPIs monitored for performance.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KPI Aggregation Levels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KPIs are aggregated monthly and city-wise to support detailed comparisons and better decision-making.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KPI Dashboard Benefits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Visual KPIs enable users to quickly monitor performance, reducing the need to analyze raw data tables.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Excel for Reporting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Excel is effectively used for performance monitoring and management reporting in energy consumption projects.</a:t>
            </a:r>
          </a:p>
        </p:txBody>
      </p:sp>
      <p:pic>
        <p:nvPicPr>
          <p:cNvPr id="4" name="Content Placeholder 3" descr="Mobile device charging">
            <a:extLst>
              <a:ext uri="{FF2B5EF4-FFF2-40B4-BE49-F238E27FC236}">
                <a16:creationId xmlns:a16="http://schemas.microsoft.com/office/drawing/2014/main" id="{80EC7FD2-5F7A-4F3A-8281-42F64960B5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7204" r="28182" b="-1"/>
          <a:stretch>
            <a:fillRect/>
          </a:stretch>
        </p:blipFill>
        <p:spPr>
          <a:xfrm>
            <a:off x="8168640" y="1"/>
            <a:ext cx="4023360" cy="6858000"/>
          </a:xfrm>
        </p:spPr>
      </p:pic>
    </p:spTree>
    <p:extLst>
      <p:ext uri="{BB962C8B-B14F-4D97-AF65-F5344CB8AC3E}">
        <p14:creationId xmlns:p14="http://schemas.microsoft.com/office/powerpoint/2010/main" val="25964898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6292BD-9102-5B7C-CC35-3A465258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9696"/>
            <a:ext cx="8071011" cy="4718304"/>
          </a:xfrm>
        </p:spPr>
        <p:txBody>
          <a:bodyPr anchor="b">
            <a:normAutofit/>
          </a:bodyPr>
          <a:lstStyle/>
          <a:p>
            <a:r>
              <a:rPr lang="en-US"/>
              <a:t>Insights and Findings</a:t>
            </a:r>
          </a:p>
        </p:txBody>
      </p:sp>
    </p:spTree>
    <p:extLst>
      <p:ext uri="{BB962C8B-B14F-4D97-AF65-F5344CB8AC3E}">
        <p14:creationId xmlns:p14="http://schemas.microsoft.com/office/powerpoint/2010/main" val="27060691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CD1A-3CA4-6795-19F3-4D153C5F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 spc="-200" baseline="0">
                <a:latin typeface="+mj-lt"/>
                <a:ea typeface="+mj-ea"/>
                <a:cs typeface="+mj-cs"/>
              </a:rPr>
              <a:t>Key Analytical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3A250-193C-47E8-AD70-78902CF9DE8C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9602" y="2115404"/>
            <a:ext cx="7225415" cy="42129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Monthly Consumption Trends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Monthly analysis identifies peak electricity usage linked to seasonal changes and appliance activity.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City-wise Energy Comparison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Comparing cities reveals variations in energy use, highlighting areas needing efficiency improvements.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Appliance Usage Impact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Analysis pinpoints which appliances contribute most to electricity costs, guiding reduction efforts.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Value of Data Analysis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Structured data analysis transforms raw data into actionable insights for smarter energy management.</a:t>
            </a:r>
          </a:p>
        </p:txBody>
      </p:sp>
      <p:pic>
        <p:nvPicPr>
          <p:cNvPr id="4" name="Content Placeholder 3" descr="financial data on the paper document illuminated with light">
            <a:extLst>
              <a:ext uri="{FF2B5EF4-FFF2-40B4-BE49-F238E27FC236}">
                <a16:creationId xmlns:a16="http://schemas.microsoft.com/office/drawing/2014/main" id="{78020502-95C4-469D-BA16-88DEE8A1F0A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7767" r="23072" b="-2"/>
          <a:stretch>
            <a:fillRect/>
          </a:stretch>
        </p:blipFill>
        <p:spPr>
          <a:xfrm>
            <a:off x="8168640" y="1"/>
            <a:ext cx="4023360" cy="6858000"/>
          </a:xfrm>
        </p:spPr>
      </p:pic>
    </p:spTree>
    <p:extLst>
      <p:ext uri="{BB962C8B-B14F-4D97-AF65-F5344CB8AC3E}">
        <p14:creationId xmlns:p14="http://schemas.microsoft.com/office/powerpoint/2010/main" val="26549947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F88C86-317A-3707-F438-8B21654B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>
            <a:normAutofit/>
          </a:bodyPr>
          <a:lstStyle/>
          <a:p>
            <a:r>
              <a:rPr lang="en-US"/>
              <a:t>Business Impact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6151565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88CD6-C972-F097-2406-3426D4016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b="0" i="0" kern="1200" spc="-200" baseline="0">
                <a:latin typeface="+mj-lt"/>
                <a:ea typeface="+mj-ea"/>
                <a:cs typeface="+mj-cs"/>
              </a:rPr>
              <a:t>Practical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0BDDC-A32A-42D4-9E05-DD73635919A9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43940" y="2890729"/>
            <a:ext cx="4449227" cy="31384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Reduce Electricity Costs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Monitor high-consumption appliances and optimize their usage during off-peak hours to lower electricity expenses.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Support Infrastructure Planning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City-level energy analysis helps guide infrastructure development and targeted energy-efficiency programs.</a:t>
            </a:r>
          </a:p>
          <a:p>
            <a:pPr marL="0" lv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Excel Automation Enhancements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Integrate Power Query, use Power Pivot, and apply VBA to automate data loading and advanced modeling tasks.</a:t>
            </a:r>
          </a:p>
        </p:txBody>
      </p:sp>
      <p:pic>
        <p:nvPicPr>
          <p:cNvPr id="4" name="Content Placeholder 3" descr="Businessman analysis stockmarket with digital tablet and laptop in office">
            <a:extLst>
              <a:ext uri="{FF2B5EF4-FFF2-40B4-BE49-F238E27FC236}">
                <a16:creationId xmlns:a16="http://schemas.microsoft.com/office/drawing/2014/main" id="{6A7B11C1-F03C-4F8C-AAA5-A951EE1DC5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73" r="41119"/>
          <a:stretch>
            <a:fillRect/>
          </a:stretch>
        </p:blipFill>
        <p:spPr>
          <a:xfrm>
            <a:off x="5363570" y="10"/>
            <a:ext cx="6828430" cy="6857990"/>
          </a:xfrm>
        </p:spPr>
      </p:pic>
    </p:spTree>
    <p:extLst>
      <p:ext uri="{BB962C8B-B14F-4D97-AF65-F5344CB8AC3E}">
        <p14:creationId xmlns:p14="http://schemas.microsoft.com/office/powerpoint/2010/main" val="2979607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661E4-F5E1-3DE5-FDF3-09BBE36D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>
            <a:normAutofit/>
          </a:bodyPr>
          <a:lstStyle/>
          <a:p>
            <a:r>
              <a:rPr lang="en-US"/>
              <a:t>Learning Outcomes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159766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48FC-C57D-6FB0-C2E6-1FC05B02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</p:spPr>
        <p:txBody>
          <a:bodyPr anchor="ctr">
            <a:normAutofit/>
          </a:bodyPr>
          <a:lstStyle/>
          <a:p>
            <a:r>
              <a:rPr lang="en-US"/>
              <a:t>Skills Gained and Final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5CB7C-A0CC-4774-87BE-A95862D89BE2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46" y="1923521"/>
            <a:ext cx="5905546" cy="48241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400" b="1"/>
              <a:t>Excel Data Analysis Skills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/>
              <a:t>Developed essential Excel skills including data cleaning, Pivot Table analysis, and KPI creation for effective reporting.</a:t>
            </a:r>
          </a:p>
          <a:p>
            <a:pPr marL="0" lvl="0" indent="0"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400" b="1"/>
              <a:t>Dashboard Design and Visualization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/>
              <a:t>Learned to design interactive dashboards and use data visualization to present insights clearly and effectively.</a:t>
            </a:r>
          </a:p>
          <a:p>
            <a:pPr marL="0" lvl="0" indent="0"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400" b="1"/>
              <a:t>Analytical Thinking and Problem Solving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/>
              <a:t>Enhanced analytical thinking and problem-solving through structured interpretation of real-world electricity consumption data.</a:t>
            </a:r>
          </a:p>
          <a:p>
            <a:pPr marL="0" lvl="0" indent="0"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400" b="1"/>
              <a:t>End-to-End Data-Driven Analysis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/>
              <a:t>Demonstrated how to transform raw electricity data into actionable insights using Excel for data-driven decision making.</a:t>
            </a:r>
          </a:p>
        </p:txBody>
      </p:sp>
      <p:pic>
        <p:nvPicPr>
          <p:cNvPr id="4" name="Content Placeholder 3" descr="Credit score report">
            <a:extLst>
              <a:ext uri="{FF2B5EF4-FFF2-40B4-BE49-F238E27FC236}">
                <a16:creationId xmlns:a16="http://schemas.microsoft.com/office/drawing/2014/main" id="{46F96189-6F42-4752-B7AD-4D8C66C5043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rcRect r="8185" b="-2"/>
          <a:stretch>
            <a:fillRect/>
          </a:stretch>
        </p:blipFill>
        <p:spPr>
          <a:xfrm>
            <a:off x="20" y="1923521"/>
            <a:ext cx="5905526" cy="4824113"/>
          </a:xfrm>
        </p:spPr>
      </p:pic>
    </p:spTree>
    <p:extLst>
      <p:ext uri="{BB962C8B-B14F-4D97-AF65-F5344CB8AC3E}">
        <p14:creationId xmlns:p14="http://schemas.microsoft.com/office/powerpoint/2010/main" val="27078791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_Copilot Layouts_win32_DN_v7" id="{2D27664C-6308-44CF-AD31-3123E3CD2A37}" vid="{94C83FE8-F59A-47F5-B97E-45C21FC7BF6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2041</Words>
  <Application>Microsoft Office PowerPoint</Application>
  <PresentationFormat>Widescreen</PresentationFormat>
  <Paragraphs>303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Neue Haas Grotesk Text Pro</vt:lpstr>
      <vt:lpstr>Axis</vt:lpstr>
      <vt:lpstr>Electricity Bill &amp; Energy Consumption Analysis Using Excel</vt:lpstr>
      <vt:lpstr>Electricity Bill &amp; Energy Consumption Analysis</vt:lpstr>
      <vt:lpstr>Project Title and Introduction</vt:lpstr>
      <vt:lpstr>Project Overview</vt:lpstr>
      <vt:lpstr>Objectives and Scope of the Project</vt:lpstr>
      <vt:lpstr>Dataset Description</vt:lpstr>
      <vt:lpstr>Understanding the Data Used</vt:lpstr>
      <vt:lpstr>Data Cleaning and Preparation</vt:lpstr>
      <vt:lpstr>Preparing Analysis-Ready Data</vt:lpstr>
      <vt:lpstr>Excel Tools and Techniques</vt:lpstr>
      <vt:lpstr>Key Excel Features Used</vt:lpstr>
      <vt:lpstr>Dashboard Design</vt:lpstr>
      <vt:lpstr>Interactive Excel Dashboard</vt:lpstr>
      <vt:lpstr>KPI Analysis</vt:lpstr>
      <vt:lpstr>Measuring Performance Indicators</vt:lpstr>
      <vt:lpstr>Insights and Findings</vt:lpstr>
      <vt:lpstr>Key Analytical Insights</vt:lpstr>
      <vt:lpstr>Business Impact and Recommendations</vt:lpstr>
      <vt:lpstr>Practical Recommendations</vt:lpstr>
      <vt:lpstr>Learning Outcomes and Conclusion</vt:lpstr>
      <vt:lpstr>Skills Gained and Final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RudrashisChowdhury@365tr.top</dc:creator>
  <cp:lastModifiedBy>Rudrashis Chowdhury</cp:lastModifiedBy>
  <cp:revision>1</cp:revision>
  <dcterms:modified xsi:type="dcterms:W3CDTF">2026-07-12T04:27:54Z</dcterms:modified>
</cp:coreProperties>
</file>